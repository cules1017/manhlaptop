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14630400" cy="8229600"/>
  <p:notesSz cx="8229600" cy="14630400"/>
  <p:embeddedFontLst>
    <p:embeddedFont>
      <p:font typeface="Open Sans" panose="020B0606030504020204" charset="0"/>
      <p:regular r:id="rId15"/>
    </p:embeddedFont>
  </p:embeddedFontLst>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25" autoAdjust="0"/>
    <p:restoredTop sz="94610"/>
  </p:normalViewPr>
  <p:slideViewPr>
    <p:cSldViewPr snapToGrid="0" snapToObjects="1">
      <p:cViewPr>
        <p:scale>
          <a:sx n="75" d="100"/>
          <a:sy n="75" d="100"/>
        </p:scale>
        <p:origin x="1286" y="5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97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4FB15-A11E-B6FF-61B5-9E81E8ECD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93BC7-02CD-457F-7B51-0FA297068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10B5C-1D98-E0AE-6561-A36B65E0B3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B127ED-640A-AD2D-6CD5-29EE8C4189D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13589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https://cdn-0.plantuml.com/plantuml/png/hLFTQXD15BwVfpZafYsa-m21I4r_L9HIi3x0T1eoGvBPk3ihzb9w8L94HTGBKHgBb5QBhGhYxeKNK_8UuvDupkmOautLc-PYoSuvyttV-SwtIwdXYSdwFJRNl9GVcmEuaxPXcQVj1fm_TVat0zBkwmxCuta2vy_i0JxET_54IvUV31OkaPj7i2nTSIH04qE3v00iuc4C0scF1g0xerDNl56mRR_h3YgPK6XSyG4woXLFme5mnI67llsePSJc46mhWXNx6IkfAywWYwqFTI3v-VRTR0s4j2TQXXPIqdBv9-Df3pFeIWKPkNBFxiTJp7ZWxNcleJRfOYqAKCJuyXYMxL305etqMenP0fNtMw0TZpKH5dlSlpsgenMZqz6G9YxDCf9h2IQsGnrLGDPMeUEA4mKxzZW3uMLVtRY1NkN3664HfbHMlTXQXViaZYZEHDqRiji7at3euLr5RZ_NQ45SlNbhT9fD8fVkhBHWNaYyfbp-mzJf-WkQ064VQ7nD4DHFP8TgeGgvcT1gmvQJ69yNicDhVW1T8e6x6Vwl3FclRNUHN4miUnrHq3Jx1MvlKF5hcRZYC4XPl0B6q_LSyKhL0zEuaTPw84ghIsOHuJT54sU_AOsonng5xf3WSTul-DJ8IIydHL8D0pmywWT3VFeYnhWmSU81s80dHWaruDfG3dWAjJNiDMszNPigKY2eskAYYqLwdsx0vL5zXHk-nTDsZJ4YmFaHjm7hVmiwGqQi8rG3hbKJE9C-XdtOZaGDk3bEsfyjrw5NIHL3JOjZ0gbAY_GiQ11Pvg9lf_8GHD8m3RXElDe7VizdFq0orcp2fbGKXh3uPdC6EuG092toV-Y-bIsXrrc_zmi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187065"/>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latin typeface="Open Sans" panose="020B0606030504020204" charset="0"/>
                <a:ea typeface="Open Sans" panose="020B0606030504020204" charset="0"/>
                <a:cs typeface="Open Sans" panose="020B0606030504020204" charset="0"/>
              </a:rPr>
              <a:t>Xây Dựng Hệ Thống Bán Hàng Trực Tuyến Với Laravel Và NextJS</a:t>
            </a:r>
            <a:endParaRPr lang="en-US" sz="3900" dirty="0"/>
          </a:p>
        </p:txBody>
      </p:sp>
      <p:sp>
        <p:nvSpPr>
          <p:cNvPr id="4" name="Text 1"/>
          <p:cNvSpPr/>
          <p:nvPr/>
        </p:nvSpPr>
        <p:spPr>
          <a:xfrm>
            <a:off x="6280190" y="4724876"/>
            <a:ext cx="7556421" cy="317540"/>
          </a:xfrm>
          <a:prstGeom prst="rect">
            <a:avLst/>
          </a:prstGeom>
          <a:noFill/>
          <a:ln/>
        </p:spPr>
        <p:txBody>
          <a:bodyPr wrap="none" lIns="0" tIns="0" rIns="0" bIns="0" rtlCol="0" anchor="t"/>
          <a:lstStyle/>
          <a:p>
            <a:pPr marL="0" indent="0" algn="l">
              <a:lnSpc>
                <a:spcPts val="2500"/>
              </a:lnSpc>
              <a:buNone/>
            </a:pPr>
            <a:endParaRPr lang="en-US" sz="1550" dirty="0"/>
          </a:p>
        </p:txBody>
      </p:sp>
      <p:sp>
        <p:nvSpPr>
          <p:cNvPr id="5" name="Rectangle: Rounded Corners 4">
            <a:extLst>
              <a:ext uri="{FF2B5EF4-FFF2-40B4-BE49-F238E27FC236}">
                <a16:creationId xmlns:a16="http://schemas.microsoft.com/office/drawing/2014/main" id="{94404C98-82FF-88E6-5458-88B4C69D032C}"/>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6" name="TextBox 5">
            <a:extLst>
              <a:ext uri="{FF2B5EF4-FFF2-40B4-BE49-F238E27FC236}">
                <a16:creationId xmlns:a16="http://schemas.microsoft.com/office/drawing/2014/main" id="{2D4A2907-503F-0EA6-C2C5-D5D6AE07ED70}"/>
              </a:ext>
            </a:extLst>
          </p:cNvPr>
          <p:cNvSpPr txBox="1"/>
          <p:nvPr/>
        </p:nvSpPr>
        <p:spPr>
          <a:xfrm>
            <a:off x="6524368" y="5955957"/>
            <a:ext cx="1386342" cy="954107"/>
          </a:xfrm>
          <a:prstGeom prst="rect">
            <a:avLst/>
          </a:prstGeom>
          <a:noFill/>
        </p:spPr>
        <p:txBody>
          <a:bodyPr wrap="none" rtlCol="0">
            <a:spAutoFit/>
          </a:bodyPr>
          <a:lstStyle/>
          <a:p>
            <a:r>
              <a:rPr lang="en-US" sz="2800" b="1" dirty="0" err="1">
                <a:ea typeface="Open Sans" panose="020B0606030504020204" charset="0"/>
              </a:rPr>
              <a:t>Họ</a:t>
            </a:r>
            <a:r>
              <a:rPr lang="en-US" sz="2800" b="1" dirty="0">
                <a:ea typeface="Open Sans" panose="020B0606030504020204" charset="0"/>
              </a:rPr>
              <a:t> </a:t>
            </a:r>
            <a:r>
              <a:rPr lang="en-US" sz="2800" b="1" dirty="0" err="1">
                <a:ea typeface="Open Sans" panose="020B0606030504020204" charset="0"/>
              </a:rPr>
              <a:t>Tên</a:t>
            </a:r>
            <a:r>
              <a:rPr lang="en-US" sz="2800" b="1" dirty="0">
                <a:ea typeface="Open Sans" panose="020B0606030504020204" charset="0"/>
              </a:rPr>
              <a:t>: </a:t>
            </a:r>
          </a:p>
          <a:p>
            <a:r>
              <a:rPr lang="en-US" sz="2800" b="1" dirty="0">
                <a:ea typeface="Open Sans" panose="020B0606030504020204" charset="0"/>
              </a:rPr>
              <a:t>MSHV:</a:t>
            </a:r>
            <a:endParaRPr lang="LID4096" sz="2800" b="1" dirty="0">
              <a:ea typeface="Open Sans" panose="020B0606030504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84446"/>
            <a:ext cx="5730359"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Tóm Tắt Đề Tài &amp; Mục Tiêu</a:t>
            </a:r>
            <a:endParaRPr lang="en-US" sz="3900" dirty="0"/>
          </a:p>
        </p:txBody>
      </p:sp>
      <p:sp>
        <p:nvSpPr>
          <p:cNvPr id="3" name="Text 1"/>
          <p:cNvSpPr/>
          <p:nvPr/>
        </p:nvSpPr>
        <p:spPr>
          <a:xfrm>
            <a:off x="793790" y="2380774"/>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Đề tài tập trung xây dựng website thương mại điện tử chuyên bán laptop, bao gồm hệ thống dành cho người dùng (frontend) và quản trị viên (Admin). Hệ thống sử dụng Laravel cho phần backend và Next.js/React cho frontend, đảm bảo hiệu suất và trải nghiệm người dùng.</a:t>
            </a:r>
            <a:endParaRPr lang="en-US" sz="1550" dirty="0"/>
          </a:p>
        </p:txBody>
      </p:sp>
      <p:sp>
        <p:nvSpPr>
          <p:cNvPr id="4" name="Text 2"/>
          <p:cNvSpPr/>
          <p:nvPr/>
        </p:nvSpPr>
        <p:spPr>
          <a:xfrm>
            <a:off x="793790" y="4147066"/>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Các chức năng chính bao gồm quản lý sản phẩm, đơn hàng, đánh giá, thống kê doanh thu, quản lý người dùng và phân quyền. Mục tiêu là tạo ra một website hiện đại, dễ sử dụng, bảo mật cao và có khả năng mở rộng.</a:t>
            </a:r>
            <a:endParaRPr lang="en-US" sz="1550" dirty="0"/>
          </a:p>
        </p:txBody>
      </p:sp>
      <p:pic>
        <p:nvPicPr>
          <p:cNvPr id="5" name="Image 0" descr="preencoded.png"/>
          <p:cNvPicPr>
            <a:picLocks noChangeAspect="1"/>
          </p:cNvPicPr>
          <p:nvPr/>
        </p:nvPicPr>
        <p:blipFill>
          <a:blip r:embed="rId3"/>
          <a:stretch>
            <a:fillRect/>
          </a:stretch>
        </p:blipFill>
        <p:spPr>
          <a:xfrm>
            <a:off x="7564874" y="2425422"/>
            <a:ext cx="6279356" cy="4296370"/>
          </a:xfrm>
          <a:prstGeom prst="rect">
            <a:avLst/>
          </a:prstGeom>
        </p:spPr>
      </p:pic>
      <p:sp>
        <p:nvSpPr>
          <p:cNvPr id="6" name="Rectangle: Rounded Corners 5">
            <a:extLst>
              <a:ext uri="{FF2B5EF4-FFF2-40B4-BE49-F238E27FC236}">
                <a16:creationId xmlns:a16="http://schemas.microsoft.com/office/drawing/2014/main" id="{7ED0CDBB-92D0-7F41-367E-4E8B647786A5}"/>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391847"/>
            <a:ext cx="6156722"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Lý Do Chọn Đề Tài &amp; Phạm Vi</a:t>
            </a:r>
            <a:endParaRPr lang="en-US" sz="3900" dirty="0"/>
          </a:p>
        </p:txBody>
      </p:sp>
      <p:sp>
        <p:nvSpPr>
          <p:cNvPr id="3" name="Shape 1"/>
          <p:cNvSpPr/>
          <p:nvPr/>
        </p:nvSpPr>
        <p:spPr>
          <a:xfrm>
            <a:off x="793790" y="3408759"/>
            <a:ext cx="4215289" cy="2428875"/>
          </a:xfrm>
          <a:prstGeom prst="roundRect">
            <a:avLst>
              <a:gd name="adj" fmla="val 3432"/>
            </a:avLst>
          </a:prstGeom>
          <a:solidFill>
            <a:srgbClr val="EBE2E0"/>
          </a:solidFill>
          <a:ln w="7620">
            <a:solidFill>
              <a:srgbClr val="D1C8C6"/>
            </a:solidFill>
            <a:prstDash val="solid"/>
          </a:ln>
        </p:spPr>
        <p:txBody>
          <a:bodyPr/>
          <a:lstStyle/>
          <a:p>
            <a:endParaRPr lang="LID4096"/>
          </a:p>
        </p:txBody>
      </p:sp>
      <p:sp>
        <p:nvSpPr>
          <p:cNvPr id="4" name="Text 2"/>
          <p:cNvSpPr/>
          <p:nvPr/>
        </p:nvSpPr>
        <p:spPr>
          <a:xfrm>
            <a:off x="999768" y="361473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Lý do chọn đề tài</a:t>
            </a:r>
            <a:endParaRPr lang="en-US" sz="1950" dirty="0"/>
          </a:p>
        </p:txBody>
      </p:sp>
      <p:sp>
        <p:nvSpPr>
          <p:cNvPr id="5" name="Text 3"/>
          <p:cNvSpPr/>
          <p:nvPr/>
        </p:nvSpPr>
        <p:spPr>
          <a:xfrm>
            <a:off x="999768" y="4043958"/>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Nhu cầu mua sắm laptop trực tuyến ngày càng tăng cao, đòi hỏi một hệ thống quản lý hiện đại, dễ sử dụng và bảo mật tốt. Đề tài này nhằm đáp ứng nhu cầu đó.</a:t>
            </a:r>
            <a:endParaRPr lang="en-US" sz="1550" dirty="0"/>
          </a:p>
        </p:txBody>
      </p:sp>
      <p:sp>
        <p:nvSpPr>
          <p:cNvPr id="6" name="Shape 4"/>
          <p:cNvSpPr/>
          <p:nvPr/>
        </p:nvSpPr>
        <p:spPr>
          <a:xfrm>
            <a:off x="5207437" y="3408759"/>
            <a:ext cx="4215408" cy="2428875"/>
          </a:xfrm>
          <a:prstGeom prst="roundRect">
            <a:avLst>
              <a:gd name="adj" fmla="val 3432"/>
            </a:avLst>
          </a:prstGeom>
          <a:solidFill>
            <a:srgbClr val="EBE2E0"/>
          </a:solidFill>
          <a:ln w="7620">
            <a:solidFill>
              <a:srgbClr val="D1C8C6"/>
            </a:solidFill>
            <a:prstDash val="solid"/>
          </a:ln>
        </p:spPr>
        <p:txBody>
          <a:bodyPr/>
          <a:lstStyle/>
          <a:p>
            <a:endParaRPr lang="LID4096"/>
          </a:p>
        </p:txBody>
      </p:sp>
      <p:sp>
        <p:nvSpPr>
          <p:cNvPr id="7" name="Text 5"/>
          <p:cNvSpPr/>
          <p:nvPr/>
        </p:nvSpPr>
        <p:spPr>
          <a:xfrm>
            <a:off x="5413415" y="361473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Mục tiêu của đề tài</a:t>
            </a:r>
            <a:endParaRPr lang="en-US" sz="1950" dirty="0"/>
          </a:p>
        </p:txBody>
      </p:sp>
      <p:sp>
        <p:nvSpPr>
          <p:cNvPr id="8" name="Text 6"/>
          <p:cNvSpPr/>
          <p:nvPr/>
        </p:nvSpPr>
        <p:spPr>
          <a:xfrm>
            <a:off x="5413415" y="4043958"/>
            <a:ext cx="3803452"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Xây dựng website bán laptop với đầy đủ chức năng quản lý sản phẩm, đơn hàng, người dùng, đánh giá và thống kê, đảm bảo giao diện thân thiện, bảo mật và dễ mở rộng.</a:t>
            </a:r>
            <a:endParaRPr lang="en-US" sz="1550" dirty="0"/>
          </a:p>
        </p:txBody>
      </p:sp>
      <p:sp>
        <p:nvSpPr>
          <p:cNvPr id="9" name="Shape 7"/>
          <p:cNvSpPr/>
          <p:nvPr/>
        </p:nvSpPr>
        <p:spPr>
          <a:xfrm>
            <a:off x="9621203" y="3408759"/>
            <a:ext cx="4215289" cy="2428875"/>
          </a:xfrm>
          <a:prstGeom prst="roundRect">
            <a:avLst>
              <a:gd name="adj" fmla="val 3432"/>
            </a:avLst>
          </a:prstGeom>
          <a:solidFill>
            <a:srgbClr val="EBE2E0"/>
          </a:solidFill>
          <a:ln w="7620">
            <a:solidFill>
              <a:srgbClr val="D1C8C6"/>
            </a:solidFill>
            <a:prstDash val="solid"/>
          </a:ln>
        </p:spPr>
        <p:txBody>
          <a:bodyPr/>
          <a:lstStyle/>
          <a:p>
            <a:endParaRPr lang="LID4096"/>
          </a:p>
        </p:txBody>
      </p:sp>
      <p:sp>
        <p:nvSpPr>
          <p:cNvPr id="10" name="Text 8"/>
          <p:cNvSpPr/>
          <p:nvPr/>
        </p:nvSpPr>
        <p:spPr>
          <a:xfrm>
            <a:off x="9827181" y="361473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Giới hạn và phạm vi</a:t>
            </a:r>
            <a:endParaRPr lang="en-US" sz="1950" dirty="0"/>
          </a:p>
        </p:txBody>
      </p:sp>
      <p:sp>
        <p:nvSpPr>
          <p:cNvPr id="11" name="Text 9"/>
          <p:cNvSpPr/>
          <p:nvPr/>
        </p:nvSpPr>
        <p:spPr>
          <a:xfrm>
            <a:off x="9827181" y="4043958"/>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Đề tài tập trung vào quản lý sản phẩm, danh mục, đơn hàng, người dùng và đánh giá. Không triển khai thanh toán online thực tế hay tích hợp vận chuyển thực tế.</a:t>
            </a:r>
            <a:endParaRPr lang="en-US" sz="1550" dirty="0"/>
          </a:p>
        </p:txBody>
      </p:sp>
      <p:sp>
        <p:nvSpPr>
          <p:cNvPr id="12" name="Rectangle: Rounded Corners 11">
            <a:extLst>
              <a:ext uri="{FF2B5EF4-FFF2-40B4-BE49-F238E27FC236}">
                <a16:creationId xmlns:a16="http://schemas.microsoft.com/office/drawing/2014/main" id="{F9058D3B-5742-AC26-7F0F-6768E28A5CBE}"/>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86721"/>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Công Nghệ Sử Dụng</a:t>
            </a:r>
            <a:endParaRPr lang="en-US" sz="3900" dirty="0"/>
          </a:p>
        </p:txBody>
      </p:sp>
      <p:pic>
        <p:nvPicPr>
          <p:cNvPr id="4" name="Image 1" descr="preencoded.png"/>
          <p:cNvPicPr>
            <a:picLocks noChangeAspect="1"/>
          </p:cNvPicPr>
          <p:nvPr/>
        </p:nvPicPr>
        <p:blipFill>
          <a:blip r:embed="rId4"/>
          <a:stretch>
            <a:fillRect/>
          </a:stretch>
        </p:blipFill>
        <p:spPr>
          <a:xfrm>
            <a:off x="793790" y="2304455"/>
            <a:ext cx="496133" cy="496133"/>
          </a:xfrm>
          <a:prstGeom prst="rect">
            <a:avLst/>
          </a:prstGeom>
        </p:spPr>
      </p:pic>
      <p:sp>
        <p:nvSpPr>
          <p:cNvPr id="5" name="Text 1"/>
          <p:cNvSpPr/>
          <p:nvPr/>
        </p:nvSpPr>
        <p:spPr>
          <a:xfrm>
            <a:off x="1537930" y="2422208"/>
            <a:ext cx="351722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Backend: Laravel (PHP) &amp; MySQL</a:t>
            </a:r>
            <a:endParaRPr lang="en-US" sz="1950" dirty="0"/>
          </a:p>
        </p:txBody>
      </p:sp>
      <p:sp>
        <p:nvSpPr>
          <p:cNvPr id="6" name="Text 2"/>
          <p:cNvSpPr/>
          <p:nvPr/>
        </p:nvSpPr>
        <p:spPr>
          <a:xfrm>
            <a:off x="1537930" y="2851428"/>
            <a:ext cx="6812280"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Xử lý logic nghiệp vụ, quản lý cơ sở dữ liệu và xây dựng API RESTful. Sử dụng Eloquent ORM, middleware, validation và xác thực JWT/Sanctum.</a:t>
            </a:r>
            <a:endParaRPr lang="en-US" sz="1550" dirty="0"/>
          </a:p>
        </p:txBody>
      </p:sp>
      <p:pic>
        <p:nvPicPr>
          <p:cNvPr id="7" name="Image 2" descr="preencoded.png"/>
          <p:cNvPicPr>
            <a:picLocks noChangeAspect="1"/>
          </p:cNvPicPr>
          <p:nvPr/>
        </p:nvPicPr>
        <p:blipFill>
          <a:blip r:embed="rId5"/>
          <a:stretch>
            <a:fillRect/>
          </a:stretch>
        </p:blipFill>
        <p:spPr>
          <a:xfrm>
            <a:off x="793790" y="3982641"/>
            <a:ext cx="496133" cy="496133"/>
          </a:xfrm>
          <a:prstGeom prst="rect">
            <a:avLst/>
          </a:prstGeom>
        </p:spPr>
      </p:pic>
      <p:sp>
        <p:nvSpPr>
          <p:cNvPr id="8" name="Text 3"/>
          <p:cNvSpPr/>
          <p:nvPr/>
        </p:nvSpPr>
        <p:spPr>
          <a:xfrm>
            <a:off x="1537930" y="4100393"/>
            <a:ext cx="2638306"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Frontend: Next.js (React)</a:t>
            </a:r>
            <a:endParaRPr lang="en-US" sz="1950" dirty="0"/>
          </a:p>
        </p:txBody>
      </p:sp>
      <p:sp>
        <p:nvSpPr>
          <p:cNvPr id="9" name="Text 4"/>
          <p:cNvSpPr/>
          <p:nvPr/>
        </p:nvSpPr>
        <p:spPr>
          <a:xfrm>
            <a:off x="1537930" y="4529614"/>
            <a:ext cx="6812280"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Đảm bảo tối ưu SEO và tốc độ tải trang nhanh. Giao diện người dùng sử dụng React Context để quản lý trạng thái và React Toastify cho thông báo.</a:t>
            </a:r>
            <a:endParaRPr lang="en-US" sz="1550" dirty="0"/>
          </a:p>
        </p:txBody>
      </p:sp>
      <p:pic>
        <p:nvPicPr>
          <p:cNvPr id="10" name="Image 3" descr="preencoded.png"/>
          <p:cNvPicPr>
            <a:picLocks noChangeAspect="1"/>
          </p:cNvPicPr>
          <p:nvPr/>
        </p:nvPicPr>
        <p:blipFill>
          <a:blip r:embed="rId6"/>
          <a:stretch>
            <a:fillRect/>
          </a:stretch>
        </p:blipFill>
        <p:spPr>
          <a:xfrm>
            <a:off x="793790" y="5660827"/>
            <a:ext cx="496133" cy="496133"/>
          </a:xfrm>
          <a:prstGeom prst="rect">
            <a:avLst/>
          </a:prstGeom>
        </p:spPr>
      </p:pic>
      <p:sp>
        <p:nvSpPr>
          <p:cNvPr id="11" name="Text 5"/>
          <p:cNvSpPr/>
          <p:nvPr/>
        </p:nvSpPr>
        <p:spPr>
          <a:xfrm>
            <a:off x="1537930" y="5778579"/>
            <a:ext cx="314646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Trang Quản Trị: Next.js/React</a:t>
            </a:r>
            <a:endParaRPr lang="en-US" sz="1950" dirty="0"/>
          </a:p>
        </p:txBody>
      </p:sp>
      <p:sp>
        <p:nvSpPr>
          <p:cNvPr id="12" name="Text 6"/>
          <p:cNvSpPr/>
          <p:nvPr/>
        </p:nvSpPr>
        <p:spPr>
          <a:xfrm>
            <a:off x="1537930" y="6207800"/>
            <a:ext cx="6812280"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Được xây dựng riêng biệt, kết nối API riêng cho admin, cho phép phân quyền rõ ràng giữa người dùng và quản trị viên, đảm bảo an toàn.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116574"/>
            <a:ext cx="6745843"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Chức Năng Chính Của Hệ Thống</a:t>
            </a:r>
            <a:endParaRPr lang="en-US" sz="3900" dirty="0"/>
          </a:p>
        </p:txBody>
      </p:sp>
      <p:sp>
        <p:nvSpPr>
          <p:cNvPr id="3" name="Shape 1"/>
          <p:cNvSpPr/>
          <p:nvPr/>
        </p:nvSpPr>
        <p:spPr>
          <a:xfrm>
            <a:off x="793790" y="3133487"/>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4" name="Text 2"/>
          <p:cNvSpPr/>
          <p:nvPr/>
        </p:nvSpPr>
        <p:spPr>
          <a:xfrm>
            <a:off x="1438632" y="3201710"/>
            <a:ext cx="3614380"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Đăng ký/Đăng nhập &amp; Phân quyền</a:t>
            </a:r>
            <a:endParaRPr lang="en-US" sz="1950" dirty="0"/>
          </a:p>
        </p:txBody>
      </p:sp>
      <p:sp>
        <p:nvSpPr>
          <p:cNvPr id="5" name="Text 3"/>
          <p:cNvSpPr/>
          <p:nvPr/>
        </p:nvSpPr>
        <p:spPr>
          <a:xfrm>
            <a:off x="1438632" y="3630930"/>
            <a:ext cx="5752505"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Hệ thống hỗ trợ đăng ký/đăng nhập người dùng với chức năng phân quyền rõ ràng giữa người dùng thường và quản trị viên.</a:t>
            </a:r>
            <a:endParaRPr lang="en-US" sz="1550" dirty="0"/>
          </a:p>
        </p:txBody>
      </p:sp>
      <p:sp>
        <p:nvSpPr>
          <p:cNvPr id="6" name="Shape 4"/>
          <p:cNvSpPr/>
          <p:nvPr/>
        </p:nvSpPr>
        <p:spPr>
          <a:xfrm>
            <a:off x="7439144" y="3133487"/>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7" name="Text 5"/>
          <p:cNvSpPr/>
          <p:nvPr/>
        </p:nvSpPr>
        <p:spPr>
          <a:xfrm>
            <a:off x="8083987" y="3201710"/>
            <a:ext cx="3213021"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Quản lý Sản phẩm &amp; Đơn hàng</a:t>
            </a:r>
            <a:endParaRPr lang="en-US" sz="1950" dirty="0"/>
          </a:p>
        </p:txBody>
      </p:sp>
      <p:sp>
        <p:nvSpPr>
          <p:cNvPr id="8" name="Text 6"/>
          <p:cNvSpPr/>
          <p:nvPr/>
        </p:nvSpPr>
        <p:spPr>
          <a:xfrm>
            <a:off x="8083987" y="3630930"/>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Admin có thể thêm, sửa, xóa, sắp xếp sản phẩm. Người dùng có thể đặt hàng, theo dõi tiến độ và xem lịch sử mua hàng.</a:t>
            </a:r>
            <a:endParaRPr lang="en-US" sz="1550" dirty="0"/>
          </a:p>
        </p:txBody>
      </p:sp>
      <p:sp>
        <p:nvSpPr>
          <p:cNvPr id="9" name="Shape 7"/>
          <p:cNvSpPr/>
          <p:nvPr/>
        </p:nvSpPr>
        <p:spPr>
          <a:xfrm>
            <a:off x="793790" y="4662845"/>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10" name="Text 8"/>
          <p:cNvSpPr/>
          <p:nvPr/>
        </p:nvSpPr>
        <p:spPr>
          <a:xfrm>
            <a:off x="1438632" y="4731068"/>
            <a:ext cx="3300889"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Đánh giá Sản phẩm &amp; Thống kê</a:t>
            </a:r>
            <a:endParaRPr lang="en-US" sz="1950" dirty="0"/>
          </a:p>
        </p:txBody>
      </p:sp>
      <p:sp>
        <p:nvSpPr>
          <p:cNvPr id="11" name="Text 9"/>
          <p:cNvSpPr/>
          <p:nvPr/>
        </p:nvSpPr>
        <p:spPr>
          <a:xfrm>
            <a:off x="1438632" y="5160288"/>
            <a:ext cx="5752505"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Chỉ cho phép đánh giá sau khi đơn hàng đã giao thành công. Cung cấp biểu đồ, số liệu về doanh thu, số lượng đơn hàng, sản phẩm và người dùng.</a:t>
            </a:r>
            <a:endParaRPr lang="en-US" sz="1550" dirty="0"/>
          </a:p>
        </p:txBody>
      </p:sp>
      <p:sp>
        <p:nvSpPr>
          <p:cNvPr id="12" name="Shape 10"/>
          <p:cNvSpPr/>
          <p:nvPr/>
        </p:nvSpPr>
        <p:spPr>
          <a:xfrm>
            <a:off x="7439144" y="4662845"/>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13" name="Text 11"/>
          <p:cNvSpPr/>
          <p:nvPr/>
        </p:nvSpPr>
        <p:spPr>
          <a:xfrm>
            <a:off x="8083987" y="473106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Giao diện &amp; Bảo mật</a:t>
            </a:r>
            <a:endParaRPr lang="en-US" sz="1950" dirty="0"/>
          </a:p>
        </p:txBody>
      </p:sp>
      <p:sp>
        <p:nvSpPr>
          <p:cNvPr id="14" name="Text 12"/>
          <p:cNvSpPr/>
          <p:nvPr/>
        </p:nvSpPr>
        <p:spPr>
          <a:xfrm>
            <a:off x="8083987" y="5160288"/>
            <a:ext cx="5752624"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Giao diện hiện đại, responsive, tối ưu trải nghiệm với các hiệu ứng popup, toast. Bảo mật xác thực bằng JWT hoặc Sanctum, chống tấn công CSRF.</a:t>
            </a:r>
            <a:endParaRPr lang="en-US" sz="1550" dirty="0"/>
          </a:p>
        </p:txBody>
      </p:sp>
      <p:sp>
        <p:nvSpPr>
          <p:cNvPr id="15" name="Rectangle: Rounded Corners 14">
            <a:extLst>
              <a:ext uri="{FF2B5EF4-FFF2-40B4-BE49-F238E27FC236}">
                <a16:creationId xmlns:a16="http://schemas.microsoft.com/office/drawing/2014/main" id="{0CDB1169-4D8F-085D-9B89-4AF435B25CF1}"/>
              </a:ext>
            </a:extLst>
          </p:cNvPr>
          <p:cNvSpPr/>
          <p:nvPr/>
        </p:nvSpPr>
        <p:spPr>
          <a:xfrm>
            <a:off x="12776886" y="7677665"/>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41577"/>
            <a:ext cx="6035516"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Phân Tích Yêu Cầu Hệ Thống</a:t>
            </a:r>
            <a:endParaRPr lang="en-US" sz="3900" dirty="0"/>
          </a:p>
        </p:txBody>
      </p:sp>
      <p:sp>
        <p:nvSpPr>
          <p:cNvPr id="3" name="Text 1"/>
          <p:cNvSpPr/>
          <p:nvPr/>
        </p:nvSpPr>
        <p:spPr>
          <a:xfrm>
            <a:off x="793790" y="3257669"/>
            <a:ext cx="3022640"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Yêu cầu chức năng nghiệp vụ</a:t>
            </a:r>
            <a:endParaRPr lang="en-US" sz="1950" dirty="0"/>
          </a:p>
        </p:txBody>
      </p:sp>
      <p:sp>
        <p:nvSpPr>
          <p:cNvPr id="4" name="Text 2"/>
          <p:cNvSpPr/>
          <p:nvPr/>
        </p:nvSpPr>
        <p:spPr>
          <a:xfrm>
            <a:off x="793790" y="376618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Quản lý sản phẩm, danh mục, tồn kho.</a:t>
            </a:r>
            <a:endParaRPr lang="en-US" sz="1550" dirty="0"/>
          </a:p>
        </p:txBody>
      </p:sp>
      <p:sp>
        <p:nvSpPr>
          <p:cNvPr id="5" name="Text 3"/>
          <p:cNvSpPr/>
          <p:nvPr/>
        </p:nvSpPr>
        <p:spPr>
          <a:xfrm>
            <a:off x="793790" y="41531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Quản lý đơn hàng: đặt, xác nhận, giao, hủy.</a:t>
            </a:r>
            <a:endParaRPr lang="en-US" sz="1550" dirty="0"/>
          </a:p>
        </p:txBody>
      </p:sp>
      <p:sp>
        <p:nvSpPr>
          <p:cNvPr id="6" name="Text 4"/>
          <p:cNvSpPr/>
          <p:nvPr/>
        </p:nvSpPr>
        <p:spPr>
          <a:xfrm>
            <a:off x="793790" y="45400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Quản lý người dùng: đăng ký, đăng nhập, phân quyền.</a:t>
            </a:r>
            <a:endParaRPr lang="en-US" sz="1550" dirty="0"/>
          </a:p>
        </p:txBody>
      </p:sp>
      <p:sp>
        <p:nvSpPr>
          <p:cNvPr id="7" name="Text 5"/>
          <p:cNvSpPr/>
          <p:nvPr/>
        </p:nvSpPr>
        <p:spPr>
          <a:xfrm>
            <a:off x="793790" y="49270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Đánh giá sản phẩm sau khi giao hàng thành công.</a:t>
            </a:r>
            <a:endParaRPr lang="en-US" sz="1550" dirty="0"/>
          </a:p>
        </p:txBody>
      </p:sp>
      <p:sp>
        <p:nvSpPr>
          <p:cNvPr id="8" name="Text 6"/>
          <p:cNvSpPr/>
          <p:nvPr/>
        </p:nvSpPr>
        <p:spPr>
          <a:xfrm>
            <a:off x="793790" y="531399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Thống kê doanh thu, số lượng đơn, sản phẩm, người dùng.</a:t>
            </a:r>
            <a:endParaRPr lang="en-US" sz="1550" dirty="0"/>
          </a:p>
        </p:txBody>
      </p:sp>
      <p:sp>
        <p:nvSpPr>
          <p:cNvPr id="9" name="Text 7"/>
          <p:cNvSpPr/>
          <p:nvPr/>
        </p:nvSpPr>
        <p:spPr>
          <a:xfrm>
            <a:off x="793790" y="570095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Quản lý thông tin cá nhân, lịch sử mua hàng.</a:t>
            </a:r>
            <a:endParaRPr lang="en-US" sz="1550" dirty="0"/>
          </a:p>
        </p:txBody>
      </p:sp>
      <p:sp>
        <p:nvSpPr>
          <p:cNvPr id="10" name="Text 8"/>
          <p:cNvSpPr/>
          <p:nvPr/>
        </p:nvSpPr>
        <p:spPr>
          <a:xfrm>
            <a:off x="7564874" y="3257669"/>
            <a:ext cx="2911912"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Yêu cầu chức năng hệ thống</a:t>
            </a:r>
            <a:endParaRPr lang="en-US" sz="1950" dirty="0"/>
          </a:p>
        </p:txBody>
      </p:sp>
      <p:sp>
        <p:nvSpPr>
          <p:cNvPr id="11" name="Text 9"/>
          <p:cNvSpPr/>
          <p:nvPr/>
        </p:nvSpPr>
        <p:spPr>
          <a:xfrm>
            <a:off x="7564874" y="376618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Giao diện thân thiện, responsive trên mọi thiết bị.</a:t>
            </a:r>
            <a:endParaRPr lang="en-US" sz="1550" dirty="0"/>
          </a:p>
        </p:txBody>
      </p:sp>
      <p:sp>
        <p:nvSpPr>
          <p:cNvPr id="12" name="Text 10"/>
          <p:cNvSpPr/>
          <p:nvPr/>
        </p:nvSpPr>
        <p:spPr>
          <a:xfrm>
            <a:off x="7564874" y="41531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Bảo mật thông tin người dùng, xác thực qua token.</a:t>
            </a:r>
            <a:endParaRPr lang="en-US" sz="1550" dirty="0"/>
          </a:p>
        </p:txBody>
      </p:sp>
      <p:sp>
        <p:nvSpPr>
          <p:cNvPr id="13" name="Text 11"/>
          <p:cNvSpPr/>
          <p:nvPr/>
        </p:nvSpPr>
        <p:spPr>
          <a:xfrm>
            <a:off x="7564874" y="45400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Phân quyền rõ ràng giữa user và admin.</a:t>
            </a:r>
            <a:endParaRPr lang="en-US" sz="1550" dirty="0"/>
          </a:p>
        </p:txBody>
      </p:sp>
      <p:sp>
        <p:nvSpPr>
          <p:cNvPr id="14" name="Text 12"/>
          <p:cNvSpPr/>
          <p:nvPr/>
        </p:nvSpPr>
        <p:spPr>
          <a:xfrm>
            <a:off x="7564874" y="49270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API RESTful, dễ dàng mở rộng, tích hợp.</a:t>
            </a:r>
            <a:endParaRPr lang="en-US" sz="1550" dirty="0"/>
          </a:p>
        </p:txBody>
      </p:sp>
      <p:sp>
        <p:nvSpPr>
          <p:cNvPr id="15" name="Text 13"/>
          <p:cNvSpPr/>
          <p:nvPr/>
        </p:nvSpPr>
        <p:spPr>
          <a:xfrm>
            <a:off x="7564874" y="531399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Hệ thống thông báo (popup/toast) cho các thao tác.</a:t>
            </a:r>
            <a:endParaRPr lang="en-US" sz="1550" dirty="0"/>
          </a:p>
        </p:txBody>
      </p:sp>
      <p:sp>
        <p:nvSpPr>
          <p:cNvPr id="16" name="Text 14"/>
          <p:cNvSpPr/>
          <p:nvPr/>
        </p:nvSpPr>
        <p:spPr>
          <a:xfrm>
            <a:off x="7564874" y="570095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Hỗ trợ upload ảnh sản phẩm, lưu trữ an toàn.</a:t>
            </a:r>
            <a:endParaRPr lang="en-US" sz="1550" dirty="0"/>
          </a:p>
        </p:txBody>
      </p:sp>
      <p:sp>
        <p:nvSpPr>
          <p:cNvPr id="17" name="Rectangle: Rounded Corners 16">
            <a:extLst>
              <a:ext uri="{FF2B5EF4-FFF2-40B4-BE49-F238E27FC236}">
                <a16:creationId xmlns:a16="http://schemas.microsoft.com/office/drawing/2014/main" id="{7DACDCFA-A252-52D2-3827-40BE75079F67}"/>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6509" y="589836"/>
            <a:ext cx="13337381" cy="258604"/>
          </a:xfrm>
          <a:prstGeom prst="rect">
            <a:avLst/>
          </a:prstGeom>
          <a:noFill/>
          <a:ln/>
        </p:spPr>
        <p:txBody>
          <a:bodyPr wrap="none" lIns="0" tIns="0" rIns="0" bIns="0" rtlCol="0" anchor="t"/>
          <a:lstStyle/>
          <a:p>
            <a:pPr marL="0" indent="0" algn="l">
              <a:lnSpc>
                <a:spcPts val="2000"/>
              </a:lnSpc>
              <a:buNone/>
            </a:pPr>
            <a:endParaRPr lang="en-US" sz="1250" dirty="0"/>
          </a:p>
        </p:txBody>
      </p:sp>
      <p:pic>
        <p:nvPicPr>
          <p:cNvPr id="3" name="Image 0" descr="preencoded.png"/>
          <p:cNvPicPr>
            <a:picLocks noChangeAspect="1"/>
          </p:cNvPicPr>
          <p:nvPr/>
        </p:nvPicPr>
        <p:blipFill>
          <a:blip r:embed="rId3"/>
          <a:stretch>
            <a:fillRect/>
          </a:stretch>
        </p:blipFill>
        <p:spPr>
          <a:xfrm>
            <a:off x="646509" y="1212056"/>
            <a:ext cx="5666542" cy="5988725"/>
          </a:xfrm>
          <a:prstGeom prst="rect">
            <a:avLst/>
          </a:prstGeom>
        </p:spPr>
      </p:pic>
      <p:sp>
        <p:nvSpPr>
          <p:cNvPr id="4" name="Text 1"/>
          <p:cNvSpPr/>
          <p:nvPr/>
        </p:nvSpPr>
        <p:spPr>
          <a:xfrm>
            <a:off x="646509" y="7382589"/>
            <a:ext cx="6471523" cy="258604"/>
          </a:xfrm>
          <a:prstGeom prst="rect">
            <a:avLst/>
          </a:prstGeom>
          <a:noFill/>
          <a:ln/>
        </p:spPr>
        <p:txBody>
          <a:bodyPr wrap="none" lIns="0" tIns="0" rIns="0" bIns="0" rtlCol="0" anchor="t"/>
          <a:lstStyle/>
          <a:p>
            <a:pPr marL="0" indent="0" algn="l">
              <a:lnSpc>
                <a:spcPts val="2000"/>
              </a:lnSpc>
              <a:buNone/>
            </a:pPr>
            <a:endParaRPr lang="en-US" sz="1250" dirty="0"/>
          </a:p>
        </p:txBody>
      </p:sp>
      <p:sp>
        <p:nvSpPr>
          <p:cNvPr id="5" name="Text 2"/>
          <p:cNvSpPr/>
          <p:nvPr/>
        </p:nvSpPr>
        <p:spPr>
          <a:xfrm>
            <a:off x="7519988" y="1607344"/>
            <a:ext cx="6471523" cy="1010126"/>
          </a:xfrm>
          <a:prstGeom prst="rect">
            <a:avLst/>
          </a:prstGeom>
          <a:noFill/>
          <a:ln/>
        </p:spPr>
        <p:txBody>
          <a:bodyPr wrap="square" lIns="0" tIns="0" rIns="0" bIns="0" rtlCol="0" anchor="t"/>
          <a:lstStyle/>
          <a:p>
            <a:pPr marL="0" indent="0" algn="l">
              <a:lnSpc>
                <a:spcPts val="3950"/>
              </a:lnSpc>
              <a:buNone/>
            </a:pPr>
            <a:r>
              <a:rPr lang="en-US" sz="3150" b="1" dirty="0">
                <a:solidFill>
                  <a:srgbClr val="443728"/>
                </a:solidFill>
                <a:ea typeface="Open Sans" panose="020B0606030504020204" charset="0"/>
                <a:cs typeface="Open Sans" panose="020B0606030504020204" charset="0"/>
              </a:rPr>
              <a:t>Phân Tích Use Case Diagram: Người Dùng</a:t>
            </a:r>
            <a:endParaRPr lang="en-US" sz="3150" dirty="0"/>
          </a:p>
        </p:txBody>
      </p:sp>
      <p:sp>
        <p:nvSpPr>
          <p:cNvPr id="6" name="Text 3"/>
          <p:cNvSpPr/>
          <p:nvPr/>
        </p:nvSpPr>
        <p:spPr>
          <a:xfrm>
            <a:off x="7519988" y="2779038"/>
            <a:ext cx="6471523" cy="517208"/>
          </a:xfrm>
          <a:prstGeom prst="rect">
            <a:avLst/>
          </a:prstGeom>
          <a:noFill/>
          <a:ln/>
        </p:spPr>
        <p:txBody>
          <a:bodyPr wrap="square" lIns="0" tIns="0" rIns="0" bIns="0" rtlCol="0" anchor="t"/>
          <a:lstStyle/>
          <a:p>
            <a:pPr marL="0" indent="0" algn="l">
              <a:lnSpc>
                <a:spcPts val="2000"/>
              </a:lnSpc>
              <a:buNone/>
            </a:pPr>
            <a:r>
              <a:rPr lang="en-US" sz="1250" dirty="0">
                <a:solidFill>
                  <a:srgbClr val="443728"/>
                </a:solidFill>
                <a:ea typeface="Open Sans" pitchFamily="34" charset="-122"/>
                <a:cs typeface="Open Sans" pitchFamily="34" charset="-120"/>
              </a:rPr>
              <a:t>Mô tả chi tiết các tương tác và chức năng chính mà một người dùng thông thường có thể thực hiện khi sử dụng hệ thống bán hàng trực tuyến.</a:t>
            </a:r>
            <a:endParaRPr lang="en-US" sz="1250" dirty="0"/>
          </a:p>
        </p:txBody>
      </p:sp>
      <p:sp>
        <p:nvSpPr>
          <p:cNvPr id="7" name="Text 4"/>
          <p:cNvSpPr/>
          <p:nvPr/>
        </p:nvSpPr>
        <p:spPr>
          <a:xfrm>
            <a:off x="7519988" y="3457813"/>
            <a:ext cx="3258503" cy="252532"/>
          </a:xfrm>
          <a:prstGeom prst="rect">
            <a:avLst/>
          </a:prstGeom>
          <a:noFill/>
          <a:ln/>
        </p:spPr>
        <p:txBody>
          <a:bodyPr wrap="none" lIns="0" tIns="0" rIns="0" bIns="0" rtlCol="0" anchor="t"/>
          <a:lstStyle/>
          <a:p>
            <a:pPr marL="0" indent="0" algn="l">
              <a:lnSpc>
                <a:spcPts val="1950"/>
              </a:lnSpc>
              <a:buNone/>
            </a:pPr>
            <a:r>
              <a:rPr lang="en-US" sz="1550" b="1" dirty="0">
                <a:solidFill>
                  <a:srgbClr val="443728"/>
                </a:solidFill>
                <a:ea typeface="Open Sans" panose="020B0606030504020204" charset="0"/>
                <a:cs typeface="Open Sans" panose="020B0606030504020204" charset="0"/>
              </a:rPr>
              <a:t>Các Chức Năng Chính của Người Dùng</a:t>
            </a:r>
            <a:endParaRPr lang="en-US" sz="1550" dirty="0"/>
          </a:p>
        </p:txBody>
      </p:sp>
      <p:sp>
        <p:nvSpPr>
          <p:cNvPr id="8" name="Text 5"/>
          <p:cNvSpPr/>
          <p:nvPr/>
        </p:nvSpPr>
        <p:spPr>
          <a:xfrm>
            <a:off x="7519988" y="3871913"/>
            <a:ext cx="6471523" cy="517208"/>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Đăng ký &amp; Đăng nhập:</a:t>
            </a:r>
            <a:r>
              <a:rPr lang="en-US" sz="1250" dirty="0">
                <a:solidFill>
                  <a:srgbClr val="443728"/>
                </a:solidFill>
                <a:ea typeface="Open Sans" pitchFamily="34" charset="-122"/>
                <a:cs typeface="Open Sans" pitchFamily="34" charset="-120"/>
              </a:rPr>
              <a:t> Tạo và quản lý tài khoản người dùng để truy cập các tính năng.</a:t>
            </a:r>
            <a:endParaRPr lang="en-US" sz="1250" dirty="0"/>
          </a:p>
        </p:txBody>
      </p:sp>
      <p:sp>
        <p:nvSpPr>
          <p:cNvPr id="9" name="Text 6"/>
          <p:cNvSpPr/>
          <p:nvPr/>
        </p:nvSpPr>
        <p:spPr>
          <a:xfrm>
            <a:off x="7519988" y="4445675"/>
            <a:ext cx="6471523" cy="517208"/>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Duyệt &amp; Tìm kiếm sản phẩm:</a:t>
            </a:r>
            <a:r>
              <a:rPr lang="en-US" sz="1250" dirty="0">
                <a:solidFill>
                  <a:srgbClr val="443728"/>
                </a:solidFill>
                <a:ea typeface="Open Sans" pitchFamily="34" charset="-122"/>
                <a:cs typeface="Open Sans" pitchFamily="34" charset="-120"/>
              </a:rPr>
              <a:t> Khám phá các danh mục, tìm kiếm sản phẩm cụ thể và xem thông tin chi tiết.</a:t>
            </a:r>
            <a:endParaRPr lang="en-US" sz="1250" dirty="0"/>
          </a:p>
        </p:txBody>
      </p:sp>
      <p:sp>
        <p:nvSpPr>
          <p:cNvPr id="10" name="Text 7"/>
          <p:cNvSpPr/>
          <p:nvPr/>
        </p:nvSpPr>
        <p:spPr>
          <a:xfrm>
            <a:off x="7519988" y="5019437"/>
            <a:ext cx="6471523" cy="517208"/>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Quản lý Giỏ hàng:</a:t>
            </a:r>
            <a:r>
              <a:rPr lang="en-US" sz="1250" dirty="0">
                <a:solidFill>
                  <a:srgbClr val="443728"/>
                </a:solidFill>
                <a:ea typeface="Open Sans" pitchFamily="34" charset="-122"/>
                <a:cs typeface="Open Sans" pitchFamily="34" charset="-120"/>
              </a:rPr>
              <a:t> Thêm, xóa hoặc cập nhật số lượng sản phẩm trước khi thanh toán.</a:t>
            </a:r>
            <a:endParaRPr lang="en-US" sz="1250" dirty="0"/>
          </a:p>
        </p:txBody>
      </p:sp>
      <p:sp>
        <p:nvSpPr>
          <p:cNvPr id="11" name="Text 8"/>
          <p:cNvSpPr/>
          <p:nvPr/>
        </p:nvSpPr>
        <p:spPr>
          <a:xfrm>
            <a:off x="7519988" y="5593199"/>
            <a:ext cx="6471523" cy="517208"/>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Đặt hàng:</a:t>
            </a:r>
            <a:r>
              <a:rPr lang="en-US" sz="1250" dirty="0">
                <a:solidFill>
                  <a:srgbClr val="443728"/>
                </a:solidFill>
                <a:ea typeface="Open Sans" pitchFamily="34" charset="-122"/>
                <a:cs typeface="Open Sans" pitchFamily="34" charset="-120"/>
              </a:rPr>
              <a:t> Hoàn tất giao dịch mua sắm, chọn phương thức thanh toán và địa chỉ giao hàng.</a:t>
            </a:r>
            <a:endParaRPr lang="en-US" sz="1250" dirty="0"/>
          </a:p>
        </p:txBody>
      </p:sp>
      <p:sp>
        <p:nvSpPr>
          <p:cNvPr id="12" name="Text 9"/>
          <p:cNvSpPr/>
          <p:nvPr/>
        </p:nvSpPr>
        <p:spPr>
          <a:xfrm>
            <a:off x="7519988" y="6166961"/>
            <a:ext cx="6471523" cy="517208"/>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Xem lịch sử &amp; Theo dõi đơn hàng:</a:t>
            </a:r>
            <a:r>
              <a:rPr lang="en-US" sz="1250" dirty="0">
                <a:solidFill>
                  <a:srgbClr val="443728"/>
                </a:solidFill>
                <a:ea typeface="Open Sans" pitchFamily="34" charset="-122"/>
                <a:cs typeface="Open Sans" pitchFamily="34" charset="-120"/>
              </a:rPr>
              <a:t> Theo dõi trạng thái đơn hàng hiện tại và xem lại các giao dịch đã hoàn tất.</a:t>
            </a:r>
            <a:endParaRPr lang="en-US" sz="1250" dirty="0"/>
          </a:p>
        </p:txBody>
      </p:sp>
      <p:sp>
        <p:nvSpPr>
          <p:cNvPr id="13" name="Text 10"/>
          <p:cNvSpPr/>
          <p:nvPr/>
        </p:nvSpPr>
        <p:spPr>
          <a:xfrm>
            <a:off x="7519988" y="6740723"/>
            <a:ext cx="6471523" cy="258604"/>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Đánh giá sản phẩm:</a:t>
            </a:r>
            <a:r>
              <a:rPr lang="en-US" sz="1250" dirty="0">
                <a:solidFill>
                  <a:srgbClr val="443728"/>
                </a:solidFill>
                <a:ea typeface="Open Sans" pitchFamily="34" charset="-122"/>
                <a:cs typeface="Open Sans" pitchFamily="34" charset="-120"/>
              </a:rPr>
              <a:t> Gửi nhận xét và đánh giá về các sản phẩm đã mua.</a:t>
            </a:r>
            <a:endParaRPr lang="en-US" sz="1250" dirty="0"/>
          </a:p>
        </p:txBody>
      </p:sp>
      <p:sp>
        <p:nvSpPr>
          <p:cNvPr id="14" name="Text 11"/>
          <p:cNvSpPr/>
          <p:nvPr/>
        </p:nvSpPr>
        <p:spPr>
          <a:xfrm>
            <a:off x="7519988" y="7055882"/>
            <a:ext cx="6471523" cy="258604"/>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443728"/>
                </a:solidFill>
                <a:ea typeface="Open Sans" pitchFamily="34" charset="-122"/>
                <a:cs typeface="Open Sans" pitchFamily="34" charset="-120"/>
              </a:rPr>
              <a:t>Quản lý hồ sơ cá nhân:</a:t>
            </a:r>
            <a:r>
              <a:rPr lang="en-US" sz="1250" dirty="0">
                <a:solidFill>
                  <a:srgbClr val="443728"/>
                </a:solidFill>
                <a:ea typeface="Open Sans" pitchFamily="34" charset="-122"/>
                <a:cs typeface="Open Sans" pitchFamily="34" charset="-120"/>
              </a:rPr>
              <a:t> Cập nhật thông tin liên hệ và cài đặt tài khoản.</a:t>
            </a:r>
            <a:endParaRPr lang="en-US" sz="1250" dirty="0"/>
          </a:p>
        </p:txBody>
      </p:sp>
      <p:sp>
        <p:nvSpPr>
          <p:cNvPr id="15" name="Rectangle: Rounded Corners 14">
            <a:extLst>
              <a:ext uri="{FF2B5EF4-FFF2-40B4-BE49-F238E27FC236}">
                <a16:creationId xmlns:a16="http://schemas.microsoft.com/office/drawing/2014/main" id="{C45AE05A-02BD-454B-4D2C-6DE2596DF914}"/>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91446" y="2017871"/>
            <a:ext cx="12745164" cy="317540"/>
          </a:xfrm>
          <a:prstGeom prst="rect">
            <a:avLst/>
          </a:prstGeom>
          <a:noFill/>
          <a:ln/>
        </p:spPr>
        <p:txBody>
          <a:bodyPr wrap="none" lIns="0" tIns="0" rIns="0" bIns="0" rtlCol="0" anchor="t"/>
          <a:lstStyle/>
          <a:p>
            <a:pPr marL="0" indent="0" algn="l">
              <a:lnSpc>
                <a:spcPts val="2500"/>
              </a:lnSpc>
              <a:buNone/>
            </a:pPr>
            <a:endParaRPr lang="en-US" sz="1550" dirty="0"/>
          </a:p>
        </p:txBody>
      </p:sp>
      <p:sp>
        <p:nvSpPr>
          <p:cNvPr id="4" name="Text 2"/>
          <p:cNvSpPr/>
          <p:nvPr/>
        </p:nvSpPr>
        <p:spPr>
          <a:xfrm>
            <a:off x="793790" y="3422690"/>
            <a:ext cx="6279356" cy="1240155"/>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Biểu Đồ Use Case: Người quản trị</a:t>
            </a:r>
            <a:endParaRPr lang="en-US" sz="3900" dirty="0"/>
          </a:p>
        </p:txBody>
      </p:sp>
      <p:sp>
        <p:nvSpPr>
          <p:cNvPr id="5" name="Text 3"/>
          <p:cNvSpPr/>
          <p:nvPr/>
        </p:nvSpPr>
        <p:spPr>
          <a:xfrm>
            <a:off x="793790" y="4861203"/>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Biểu đồ này phác thảo các tương tác chính và chức năng mà người dùng có thể thực hiện trên hệ thống, từ đăng ký tài khoản đến hoàn tất giao dịch mua sắm.</a:t>
            </a:r>
            <a:endParaRPr lang="en-US" sz="1550" dirty="0"/>
          </a:p>
        </p:txBody>
      </p:sp>
      <p:pic>
        <p:nvPicPr>
          <p:cNvPr id="6" name="Image 0" descr="preencoded.png"/>
          <p:cNvPicPr>
            <a:picLocks noChangeAspect="1"/>
          </p:cNvPicPr>
          <p:nvPr/>
        </p:nvPicPr>
        <p:blipFill>
          <a:blip r:embed="rId3"/>
          <a:stretch>
            <a:fillRect/>
          </a:stretch>
        </p:blipFill>
        <p:spPr>
          <a:xfrm>
            <a:off x="7564874" y="3005138"/>
            <a:ext cx="6275546" cy="3206472"/>
          </a:xfrm>
          <a:prstGeom prst="rect">
            <a:avLst/>
          </a:prstGeom>
        </p:spPr>
      </p:pic>
      <p:sp>
        <p:nvSpPr>
          <p:cNvPr id="7" name="Rectangle: Rounded Corners 6">
            <a:extLst>
              <a:ext uri="{FF2B5EF4-FFF2-40B4-BE49-F238E27FC236}">
                <a16:creationId xmlns:a16="http://schemas.microsoft.com/office/drawing/2014/main" id="{ECBCB86D-90F7-74AA-892B-646DC453BE70}"/>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48058"/>
            <a:ext cx="14630400" cy="2268736"/>
          </a:xfrm>
          <a:prstGeom prst="rect">
            <a:avLst/>
          </a:prstGeom>
        </p:spPr>
      </p:pic>
      <p:sp>
        <p:nvSpPr>
          <p:cNvPr id="3" name="Text 0"/>
          <p:cNvSpPr/>
          <p:nvPr/>
        </p:nvSpPr>
        <p:spPr>
          <a:xfrm>
            <a:off x="725924" y="2767846"/>
            <a:ext cx="7981950" cy="567095"/>
          </a:xfrm>
          <a:prstGeom prst="rect">
            <a:avLst/>
          </a:prstGeom>
          <a:noFill/>
          <a:ln/>
        </p:spPr>
        <p:txBody>
          <a:bodyPr wrap="none" lIns="0" tIns="0" rIns="0" bIns="0" rtlCol="0" anchor="t"/>
          <a:lstStyle/>
          <a:p>
            <a:pPr marL="0" indent="0" algn="l">
              <a:lnSpc>
                <a:spcPts val="4450"/>
              </a:lnSpc>
              <a:buNone/>
            </a:pPr>
            <a:r>
              <a:rPr lang="en-US" sz="3550" b="1" dirty="0">
                <a:solidFill>
                  <a:srgbClr val="443728"/>
                </a:solidFill>
                <a:ea typeface="Open Sans" panose="020B0606030504020204" charset="0"/>
                <a:cs typeface="Open Sans" panose="020B0606030504020204" charset="0"/>
              </a:rPr>
              <a:t>Phân Tích Use Case Diagram: Người Dùng</a:t>
            </a:r>
            <a:endParaRPr lang="en-US" sz="3550" dirty="0"/>
          </a:p>
        </p:txBody>
      </p:sp>
      <p:pic>
        <p:nvPicPr>
          <p:cNvPr id="4" name="Image 1" descr="preencoded.png"/>
          <p:cNvPicPr>
            <a:picLocks noChangeAspect="1"/>
          </p:cNvPicPr>
          <p:nvPr/>
        </p:nvPicPr>
        <p:blipFill>
          <a:blip r:embed="rId4"/>
          <a:stretch>
            <a:fillRect/>
          </a:stretch>
        </p:blipFill>
        <p:spPr>
          <a:xfrm>
            <a:off x="725924" y="3607118"/>
            <a:ext cx="6589276" cy="725924"/>
          </a:xfrm>
          <a:prstGeom prst="rect">
            <a:avLst/>
          </a:prstGeom>
        </p:spPr>
      </p:pic>
      <p:sp>
        <p:nvSpPr>
          <p:cNvPr id="5" name="Text 1"/>
          <p:cNvSpPr/>
          <p:nvPr/>
        </p:nvSpPr>
        <p:spPr>
          <a:xfrm>
            <a:off x="907375" y="4514493"/>
            <a:ext cx="2421255" cy="283607"/>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ea typeface="Open Sans" panose="020B0606030504020204" charset="0"/>
                <a:cs typeface="Open Sans" panose="020B0606030504020204" charset="0"/>
              </a:rPr>
              <a:t>Xem danh sách sản phẩm</a:t>
            </a:r>
            <a:endParaRPr lang="en-US" sz="1750" dirty="0"/>
          </a:p>
        </p:txBody>
      </p:sp>
      <p:sp>
        <p:nvSpPr>
          <p:cNvPr id="6" name="Text 2"/>
          <p:cNvSpPr/>
          <p:nvPr/>
        </p:nvSpPr>
        <p:spPr>
          <a:xfrm>
            <a:off x="907375" y="4906923"/>
            <a:ext cx="6226373"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ea typeface="Open Sans" pitchFamily="34" charset="-122"/>
                <a:cs typeface="Open Sans" pitchFamily="34" charset="-120"/>
              </a:rPr>
              <a:t>Người dùng chưa đăng nhập có thể duyệt sản phẩm, xem tên, giá, hình ảnh và đánh giá trung bình.</a:t>
            </a:r>
            <a:endParaRPr lang="en-US" sz="1400" dirty="0"/>
          </a:p>
        </p:txBody>
      </p:sp>
      <p:pic>
        <p:nvPicPr>
          <p:cNvPr id="7" name="Image 2" descr="preencoded.png"/>
          <p:cNvPicPr>
            <a:picLocks noChangeAspect="1"/>
          </p:cNvPicPr>
          <p:nvPr/>
        </p:nvPicPr>
        <p:blipFill>
          <a:blip r:embed="rId5"/>
          <a:stretch>
            <a:fillRect/>
          </a:stretch>
        </p:blipFill>
        <p:spPr>
          <a:xfrm>
            <a:off x="7315200" y="3607118"/>
            <a:ext cx="6589276" cy="725924"/>
          </a:xfrm>
          <a:prstGeom prst="rect">
            <a:avLst/>
          </a:prstGeom>
        </p:spPr>
      </p:pic>
      <p:sp>
        <p:nvSpPr>
          <p:cNvPr id="8" name="Text 3"/>
          <p:cNvSpPr/>
          <p:nvPr/>
        </p:nvSpPr>
        <p:spPr>
          <a:xfrm>
            <a:off x="7496651" y="4514493"/>
            <a:ext cx="2268736" cy="283607"/>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ea typeface="Open Sans" panose="020B0606030504020204" charset="0"/>
                <a:cs typeface="Open Sans" panose="020B0606030504020204" charset="0"/>
              </a:rPr>
              <a:t>Tìm kiếm sản phẩm</a:t>
            </a:r>
            <a:endParaRPr lang="en-US" sz="1750" dirty="0"/>
          </a:p>
        </p:txBody>
      </p:sp>
      <p:sp>
        <p:nvSpPr>
          <p:cNvPr id="9" name="Text 4"/>
          <p:cNvSpPr/>
          <p:nvPr/>
        </p:nvSpPr>
        <p:spPr>
          <a:xfrm>
            <a:off x="7496651" y="4906923"/>
            <a:ext cx="6226373"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ea typeface="Open Sans" pitchFamily="34" charset="-122"/>
                <a:cs typeface="Open Sans" pitchFamily="34" charset="-120"/>
              </a:rPr>
              <a:t>Cho phép người dùng tìm kiếm sản phẩm theo từ khóa, hiển thị kết quả hoặc thông báo nếu không tìm thấy.</a:t>
            </a:r>
            <a:endParaRPr lang="en-US" sz="1400" dirty="0"/>
          </a:p>
        </p:txBody>
      </p:sp>
      <p:pic>
        <p:nvPicPr>
          <p:cNvPr id="10" name="Image 3" descr="preencoded.png"/>
          <p:cNvPicPr>
            <a:picLocks noChangeAspect="1"/>
          </p:cNvPicPr>
          <p:nvPr/>
        </p:nvPicPr>
        <p:blipFill>
          <a:blip r:embed="rId6"/>
          <a:stretch>
            <a:fillRect/>
          </a:stretch>
        </p:blipFill>
        <p:spPr>
          <a:xfrm>
            <a:off x="725924" y="5668923"/>
            <a:ext cx="6589276" cy="725924"/>
          </a:xfrm>
          <a:prstGeom prst="rect">
            <a:avLst/>
          </a:prstGeom>
        </p:spPr>
      </p:pic>
      <p:sp>
        <p:nvSpPr>
          <p:cNvPr id="11" name="Text 5"/>
          <p:cNvSpPr/>
          <p:nvPr/>
        </p:nvSpPr>
        <p:spPr>
          <a:xfrm>
            <a:off x="907375" y="6576298"/>
            <a:ext cx="2268736" cy="283607"/>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ea typeface="Open Sans" panose="020B0606030504020204" charset="0"/>
                <a:cs typeface="Open Sans" panose="020B0606030504020204" charset="0"/>
              </a:rPr>
              <a:t>Xem chi tiết sản phẩm</a:t>
            </a:r>
            <a:endParaRPr lang="en-US" sz="1750" dirty="0"/>
          </a:p>
        </p:txBody>
      </p:sp>
      <p:sp>
        <p:nvSpPr>
          <p:cNvPr id="12" name="Text 6"/>
          <p:cNvSpPr/>
          <p:nvPr/>
        </p:nvSpPr>
        <p:spPr>
          <a:xfrm>
            <a:off x="907375" y="6968728"/>
            <a:ext cx="6226373"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ea typeface="Open Sans" pitchFamily="34" charset="-122"/>
                <a:cs typeface="Open Sans" pitchFamily="34" charset="-120"/>
              </a:rPr>
              <a:t>Người dùng có thể xem ảnh lớn, mô tả chi tiết, thông tin tồn kho của sản phẩm.</a:t>
            </a:r>
            <a:endParaRPr lang="en-US" sz="1400" dirty="0"/>
          </a:p>
        </p:txBody>
      </p:sp>
      <p:pic>
        <p:nvPicPr>
          <p:cNvPr id="13" name="Image 4" descr="preencoded.png"/>
          <p:cNvPicPr>
            <a:picLocks noChangeAspect="1"/>
          </p:cNvPicPr>
          <p:nvPr/>
        </p:nvPicPr>
        <p:blipFill>
          <a:blip r:embed="rId7"/>
          <a:stretch>
            <a:fillRect/>
          </a:stretch>
        </p:blipFill>
        <p:spPr>
          <a:xfrm>
            <a:off x="7315200" y="5668923"/>
            <a:ext cx="6589276" cy="725924"/>
          </a:xfrm>
          <a:prstGeom prst="rect">
            <a:avLst/>
          </a:prstGeom>
        </p:spPr>
      </p:pic>
      <p:sp>
        <p:nvSpPr>
          <p:cNvPr id="14" name="Text 7"/>
          <p:cNvSpPr/>
          <p:nvPr/>
        </p:nvSpPr>
        <p:spPr>
          <a:xfrm>
            <a:off x="7496651" y="6576298"/>
            <a:ext cx="2951917" cy="283607"/>
          </a:xfrm>
          <a:prstGeom prst="rect">
            <a:avLst/>
          </a:prstGeom>
          <a:noFill/>
          <a:ln/>
        </p:spPr>
        <p:txBody>
          <a:bodyPr wrap="none" lIns="0" tIns="0" rIns="0" bIns="0" rtlCol="0" anchor="t"/>
          <a:lstStyle/>
          <a:p>
            <a:pPr marL="0" indent="0" algn="l">
              <a:lnSpc>
                <a:spcPts val="2200"/>
              </a:lnSpc>
              <a:buNone/>
            </a:pPr>
            <a:r>
              <a:rPr lang="en-US" sz="1750" b="1" dirty="0">
                <a:solidFill>
                  <a:srgbClr val="443728"/>
                </a:solidFill>
                <a:ea typeface="Open Sans" panose="020B0606030504020204" charset="0"/>
                <a:cs typeface="Open Sans" panose="020B0606030504020204" charset="0"/>
              </a:rPr>
              <a:t>Thêm vào giỏ hàng &amp; Đặt hàng</a:t>
            </a:r>
            <a:endParaRPr lang="en-US" sz="1750" dirty="0"/>
          </a:p>
        </p:txBody>
      </p:sp>
      <p:sp>
        <p:nvSpPr>
          <p:cNvPr id="15" name="Text 8"/>
          <p:cNvSpPr/>
          <p:nvPr/>
        </p:nvSpPr>
        <p:spPr>
          <a:xfrm>
            <a:off x="7496651" y="6968728"/>
            <a:ext cx="6226373" cy="580549"/>
          </a:xfrm>
          <a:prstGeom prst="rect">
            <a:avLst/>
          </a:prstGeom>
          <a:noFill/>
          <a:ln/>
        </p:spPr>
        <p:txBody>
          <a:bodyPr wrap="square" lIns="0" tIns="0" rIns="0" bIns="0" rtlCol="0" anchor="t"/>
          <a:lstStyle/>
          <a:p>
            <a:pPr marL="0" indent="0" algn="l">
              <a:lnSpc>
                <a:spcPts val="2250"/>
              </a:lnSpc>
              <a:buNone/>
            </a:pPr>
            <a:r>
              <a:rPr lang="en-US" sz="1400" dirty="0">
                <a:solidFill>
                  <a:srgbClr val="443728"/>
                </a:solidFill>
                <a:ea typeface="Open Sans" pitchFamily="34" charset="-122"/>
                <a:cs typeface="Open Sans" pitchFamily="34" charset="-120"/>
              </a:rPr>
              <a:t>Người dùng đã đăng nhập có thể thêm sản phẩm vào giỏ hàng và tiến hành đặt hàng, chọn địa chỉ và phương thức thanh toán.</a:t>
            </a:r>
            <a:endParaRPr lang="en-US" sz="1400" dirty="0"/>
          </a:p>
        </p:txBody>
      </p:sp>
      <p:sp>
        <p:nvSpPr>
          <p:cNvPr id="16" name="Rectangle: Rounded Corners 15">
            <a:extLst>
              <a:ext uri="{FF2B5EF4-FFF2-40B4-BE49-F238E27FC236}">
                <a16:creationId xmlns:a16="http://schemas.microsoft.com/office/drawing/2014/main" id="{58643B30-341E-B8C4-7FDA-677C969016DE}"/>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1BF2C-F402-8F0F-C11C-D5F5D494F3BD}"/>
            </a:ext>
          </a:extLst>
        </p:cNvPr>
        <p:cNvGrpSpPr/>
        <p:nvPr/>
      </p:nvGrpSpPr>
      <p:grpSpPr>
        <a:xfrm>
          <a:off x="0" y="0"/>
          <a:ext cx="0" cy="0"/>
          <a:chOff x="0" y="0"/>
          <a:chExt cx="0" cy="0"/>
        </a:xfrm>
      </p:grpSpPr>
      <p:sp>
        <p:nvSpPr>
          <p:cNvPr id="13" name="Rectangle 2">
            <a:extLst>
              <a:ext uri="{FF2B5EF4-FFF2-40B4-BE49-F238E27FC236}">
                <a16:creationId xmlns:a16="http://schemas.microsoft.com/office/drawing/2014/main" id="{12583AFA-EC22-EBB4-C813-BD6B74686854}"/>
              </a:ext>
            </a:extLst>
          </p:cNvPr>
          <p:cNvSpPr>
            <a:spLocks noChangeArrowheads="1"/>
          </p:cNvSpPr>
          <p:nvPr/>
        </p:nvSpPr>
        <p:spPr bwMode="auto">
          <a:xfrm>
            <a:off x="4586026" y="-1246743"/>
            <a:ext cx="2632617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LID4096"/>
          </a:p>
        </p:txBody>
      </p:sp>
      <p:pic>
        <p:nvPicPr>
          <p:cNvPr id="1025" name="Picture 1" descr="PlantUML diagram">
            <a:extLst>
              <a:ext uri="{FF2B5EF4-FFF2-40B4-BE49-F238E27FC236}">
                <a16:creationId xmlns:a16="http://schemas.microsoft.com/office/drawing/2014/main" id="{5CC75181-EB3E-EAF6-82E7-0983BB52D0DD}"/>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735015" y="195582"/>
            <a:ext cx="10832123" cy="783843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0AD3F69-A31F-5079-B2E7-9C9385637EBD}"/>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916084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50275"/>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Phân Tích Use Case Diagram: Admin</a:t>
            </a:r>
            <a:endParaRPr lang="en-US" sz="3900" dirty="0"/>
          </a:p>
        </p:txBody>
      </p:sp>
      <p:sp>
        <p:nvSpPr>
          <p:cNvPr id="4" name="Shape 1"/>
          <p:cNvSpPr/>
          <p:nvPr/>
        </p:nvSpPr>
        <p:spPr>
          <a:xfrm>
            <a:off x="793790" y="2788087"/>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5" name="Text 2"/>
          <p:cNvSpPr/>
          <p:nvPr/>
        </p:nvSpPr>
        <p:spPr>
          <a:xfrm>
            <a:off x="1438632" y="285630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Quản lý sản phẩm</a:t>
            </a:r>
            <a:endParaRPr lang="en-US" sz="1950" dirty="0"/>
          </a:p>
        </p:txBody>
      </p:sp>
      <p:sp>
        <p:nvSpPr>
          <p:cNvPr id="6" name="Text 3"/>
          <p:cNvSpPr/>
          <p:nvPr/>
        </p:nvSpPr>
        <p:spPr>
          <a:xfrm>
            <a:off x="1438632" y="3285530"/>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Admin có thể thêm, sửa, xóa sản phẩm, đảm bảo thông tin sản phẩm luôn được cập nhật chính xác.</a:t>
            </a:r>
            <a:endParaRPr lang="en-US" sz="1550" dirty="0"/>
          </a:p>
        </p:txBody>
      </p:sp>
      <p:sp>
        <p:nvSpPr>
          <p:cNvPr id="7" name="Shape 4"/>
          <p:cNvSpPr/>
          <p:nvPr/>
        </p:nvSpPr>
        <p:spPr>
          <a:xfrm>
            <a:off x="793790" y="4317444"/>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8" name="Text 5"/>
          <p:cNvSpPr/>
          <p:nvPr/>
        </p:nvSpPr>
        <p:spPr>
          <a:xfrm>
            <a:off x="1438632" y="438566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Quản lý đơn hàng</a:t>
            </a:r>
            <a:endParaRPr lang="en-US" sz="1950" dirty="0"/>
          </a:p>
        </p:txBody>
      </p:sp>
      <p:sp>
        <p:nvSpPr>
          <p:cNvPr id="9" name="Text 6"/>
          <p:cNvSpPr/>
          <p:nvPr/>
        </p:nvSpPr>
        <p:spPr>
          <a:xfrm>
            <a:off x="1438632" y="4814888"/>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Admin có quyền xem, cập nhật trạng thái (chờ xử lý, đang giao, đã giao) hoặc hủy đơn hàng, giúp kiểm soát quy trình bán hàng.</a:t>
            </a:r>
            <a:endParaRPr lang="en-US" sz="1550" dirty="0"/>
          </a:p>
        </p:txBody>
      </p:sp>
      <p:sp>
        <p:nvSpPr>
          <p:cNvPr id="10" name="Shape 7"/>
          <p:cNvSpPr/>
          <p:nvPr/>
        </p:nvSpPr>
        <p:spPr>
          <a:xfrm>
            <a:off x="793790" y="5846802"/>
            <a:ext cx="446484" cy="446484"/>
          </a:xfrm>
          <a:prstGeom prst="roundRect">
            <a:avLst>
              <a:gd name="adj" fmla="val 18670"/>
            </a:avLst>
          </a:prstGeom>
          <a:solidFill>
            <a:srgbClr val="EBE2E0"/>
          </a:solidFill>
          <a:ln w="7620">
            <a:solidFill>
              <a:srgbClr val="D1C8C6"/>
            </a:solidFill>
            <a:prstDash val="solid"/>
          </a:ln>
        </p:spPr>
        <p:txBody>
          <a:bodyPr/>
          <a:lstStyle/>
          <a:p>
            <a:endParaRPr lang="LID4096"/>
          </a:p>
        </p:txBody>
      </p:sp>
      <p:sp>
        <p:nvSpPr>
          <p:cNvPr id="11" name="Text 8"/>
          <p:cNvSpPr/>
          <p:nvPr/>
        </p:nvSpPr>
        <p:spPr>
          <a:xfrm>
            <a:off x="1438632" y="591502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Thống kê báo cáo</a:t>
            </a:r>
            <a:endParaRPr lang="en-US" sz="1950" dirty="0"/>
          </a:p>
        </p:txBody>
      </p:sp>
      <p:sp>
        <p:nvSpPr>
          <p:cNvPr id="12" name="Text 9"/>
          <p:cNvSpPr/>
          <p:nvPr/>
        </p:nvSpPr>
        <p:spPr>
          <a:xfrm>
            <a:off x="1438632" y="6344245"/>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ea typeface="Open Sans" pitchFamily="34" charset="-122"/>
                <a:cs typeface="Open Sans" pitchFamily="34" charset="-120"/>
              </a:rPr>
              <a:t>Cung cấp các báo cáo về doanh thu, số lượng đơn hàng, và top sản phẩm bán chạy, hỗ trợ admin đưa ra quyết định kinh doanh.</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528530"/>
            <a:ext cx="6191012"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ea typeface="Open Sans" panose="020B0606030504020204" charset="0"/>
                <a:cs typeface="Open Sans" panose="020B0606030504020204" charset="0"/>
              </a:rPr>
              <a:t>Kết Luận &amp; Hướng Phát Triển</a:t>
            </a:r>
            <a:endParaRPr lang="en-US" sz="3900" dirty="0"/>
          </a:p>
        </p:txBody>
      </p:sp>
      <p:sp>
        <p:nvSpPr>
          <p:cNvPr id="3" name="Text 1"/>
          <p:cNvSpPr/>
          <p:nvPr/>
        </p:nvSpPr>
        <p:spPr>
          <a:xfrm>
            <a:off x="793790" y="364462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Kết quả đạt được</a:t>
            </a:r>
            <a:endParaRPr lang="en-US" sz="1950" dirty="0"/>
          </a:p>
        </p:txBody>
      </p:sp>
      <p:sp>
        <p:nvSpPr>
          <p:cNvPr id="4" name="Text 2"/>
          <p:cNvSpPr/>
          <p:nvPr/>
        </p:nvSpPr>
        <p:spPr>
          <a:xfrm>
            <a:off x="793790" y="41531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Website thương mại điện tử bán laptop đầy đủ chức năng.</a:t>
            </a:r>
            <a:endParaRPr lang="en-US" sz="1550" dirty="0"/>
          </a:p>
        </p:txBody>
      </p:sp>
      <p:sp>
        <p:nvSpPr>
          <p:cNvPr id="5" name="Text 3"/>
          <p:cNvSpPr/>
          <p:nvPr/>
        </p:nvSpPr>
        <p:spPr>
          <a:xfrm>
            <a:off x="793790" y="45400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Tích hợp Laravel (backend) và Next.js (frontend) hiệu quả.</a:t>
            </a:r>
            <a:endParaRPr lang="en-US" sz="1550" dirty="0"/>
          </a:p>
        </p:txBody>
      </p:sp>
      <p:sp>
        <p:nvSpPr>
          <p:cNvPr id="6" name="Text 4"/>
          <p:cNvSpPr/>
          <p:nvPr/>
        </p:nvSpPr>
        <p:spPr>
          <a:xfrm>
            <a:off x="793790" y="49270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Giao diện hiện đại, thân thiện, responsive.</a:t>
            </a:r>
            <a:endParaRPr lang="en-US" sz="1550" dirty="0"/>
          </a:p>
        </p:txBody>
      </p:sp>
      <p:sp>
        <p:nvSpPr>
          <p:cNvPr id="7" name="Text 5"/>
          <p:cNvSpPr/>
          <p:nvPr/>
        </p:nvSpPr>
        <p:spPr>
          <a:xfrm>
            <a:off x="793790" y="531399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Hệ thống bảo mật cao, có khả năng mở rộng tốt.</a:t>
            </a:r>
            <a:endParaRPr lang="en-US" sz="1550" dirty="0"/>
          </a:p>
        </p:txBody>
      </p:sp>
      <p:sp>
        <p:nvSpPr>
          <p:cNvPr id="8" name="Text 6"/>
          <p:cNvSpPr/>
          <p:nvPr/>
        </p:nvSpPr>
        <p:spPr>
          <a:xfrm>
            <a:off x="7564874" y="3644622"/>
            <a:ext cx="2942511"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ea typeface="Open Sans" panose="020B0606030504020204" charset="0"/>
                <a:cs typeface="Open Sans" panose="020B0606030504020204" charset="0"/>
              </a:rPr>
              <a:t>Hạn chế &amp; Hướng phát triển</a:t>
            </a:r>
            <a:endParaRPr lang="en-US" sz="1950" dirty="0"/>
          </a:p>
        </p:txBody>
      </p:sp>
      <p:sp>
        <p:nvSpPr>
          <p:cNvPr id="9" name="Text 7"/>
          <p:cNvSpPr/>
          <p:nvPr/>
        </p:nvSpPr>
        <p:spPr>
          <a:xfrm>
            <a:off x="7564874" y="41531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Chưa tích hợp thanh toán trực tuyến thực tế.</a:t>
            </a:r>
            <a:endParaRPr lang="en-US" sz="1550" dirty="0"/>
          </a:p>
        </p:txBody>
      </p:sp>
      <p:sp>
        <p:nvSpPr>
          <p:cNvPr id="10" name="Text 8"/>
          <p:cNvSpPr/>
          <p:nvPr/>
        </p:nvSpPr>
        <p:spPr>
          <a:xfrm>
            <a:off x="7564874" y="45400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Chưa hỗ trợ đa ngôn ngữ.</a:t>
            </a:r>
            <a:endParaRPr lang="en-US" sz="1550" dirty="0"/>
          </a:p>
        </p:txBody>
      </p:sp>
      <p:sp>
        <p:nvSpPr>
          <p:cNvPr id="11" name="Text 9"/>
          <p:cNvSpPr/>
          <p:nvPr/>
        </p:nvSpPr>
        <p:spPr>
          <a:xfrm>
            <a:off x="7564874" y="4927044"/>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443728"/>
                </a:solidFill>
                <a:ea typeface="Open Sans" pitchFamily="34" charset="-122"/>
                <a:cs typeface="Open Sans" pitchFamily="34" charset="-120"/>
              </a:rPr>
              <a:t>Tương lai: tích hợp cổng thanh toán, AI gợi ý sản phẩm, ứng dụng mobile.</a:t>
            </a:r>
            <a:endParaRPr lang="en-US" sz="1550" dirty="0"/>
          </a:p>
        </p:txBody>
      </p:sp>
      <p:sp>
        <p:nvSpPr>
          <p:cNvPr id="12" name="Rectangle: Rounded Corners 11">
            <a:extLst>
              <a:ext uri="{FF2B5EF4-FFF2-40B4-BE49-F238E27FC236}">
                <a16:creationId xmlns:a16="http://schemas.microsoft.com/office/drawing/2014/main" id="{DB1482D8-1BBA-3F56-E9E1-C3E6C2394A2A}"/>
              </a:ext>
            </a:extLst>
          </p:cNvPr>
          <p:cNvSpPr/>
          <p:nvPr/>
        </p:nvSpPr>
        <p:spPr>
          <a:xfrm>
            <a:off x="12776886" y="7661189"/>
            <a:ext cx="1771136" cy="48603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1321</Words>
  <Application>Microsoft Office PowerPoint</Application>
  <PresentationFormat>Custom</PresentationFormat>
  <Paragraphs>94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Hiếu Nghĩa Nguyễn</cp:lastModifiedBy>
  <cp:revision>3</cp:revision>
  <dcterms:created xsi:type="dcterms:W3CDTF">2025-06-18T07:43:49Z</dcterms:created>
  <dcterms:modified xsi:type="dcterms:W3CDTF">2025-06-18T07:54:54Z</dcterms:modified>
</cp:coreProperties>
</file>